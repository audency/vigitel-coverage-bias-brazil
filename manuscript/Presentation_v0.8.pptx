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4B31"/>
                </a:solidFill>
                <a:latin typeface="Calibri"/>
              </a:rPr>
              <a:t>ARTICLE PRESENTATION • PROADI-SUS / FSP-USP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Coverage, representativeness, and selection bias
in telephone-based health surveillance during the
decline of landline telephony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A Brazilian case study with implications for the Americas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Audêncio Victor*  ·  Carla Ferreira do Nascimento*  ·  Bruna Suellen Breternitz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Michele Lacerda Pereira Ferrer  ·  Étienne Larissa Duim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* Joint first authors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School of Public Health, Universidade de São Paulo  ·  Hospital Israelita Albert Einstein – PROADI-SUS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4B31"/>
                </a:solidFill>
                <a:latin typeface="Calibri"/>
              </a:rPr>
              <a:t>Maio 2026  ·  v0.8  ·  Companion to Lancet-style manuscript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Five take-home findings, structured around four pre-registered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Brazilian household landline coverage fell from 32·6% (2016) to 11·7% (2023) — AAPC −14·3%/yr; persistent inequality (Southeast/North = 4·2× in 2023).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Vigitel underestimates 5/5 priority NCD indicators relative to PNS 2019 (all p&lt;0·001 after Holm correction; gaps from −1·1 to −7·1 percentage points).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For current smoking, Fairlie decomposition robustly attributes ≥ 95% of the gap to mode effects rather than population composition (across 3 specifications).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For other indicators (hypertension, diabetes), the partition is sensitive to specification — adding race shifts %composition from 18% to 60% for hypertension.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Random forest provides marginal discrimination over logistic regression (Δ AUC 0·078) — confirms Christodoulou 2019 for tabular sociodemographic features.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Monte-Carlo (ADEMP): multimodal sampling reduces estimator variance ≈12-fold; bias = 0 in S3 by construction (validation of corrected pipeline).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The decline of landline telephony challenges Vigitel's representativeness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Vigitel: principal Brazilian NCD risk-factor surveillance (since 2006). RDD-CATI in 27 capitals + DF, post-stratification rake.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Brazilian household landline coverage: 23% (2019) → 16% (2021) → 12% (2023). Strong regional gradient.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Existing literature interprets Vigitel underestimation as NON-COVERAGE BIAS, justifying frame redesign (dual-frame fixed+mobile).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Alternative: MODE-OF-COLLECTION effects (telephone vs in-person; social desirability) may dominate. Different policy implications.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Pre-registered hypothesis: decompose the Vigitel–PNS gap into composition (who is covered) vs coefficients (mode of collection).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Triangulation: Vigitel × PNS 2019 (in-person reference) × PNAD-TIC (telephony coverage). Fully reproducible R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Table 1 — Sample characteristics, 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Vigitel (capitals + DF) vs PNS (Brazil) — adults ≥18 years, weighted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1280160"/>
          <a:ext cx="85039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611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Characteristic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Vigitel (capitals)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PNS (Brazil)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n (unweighted)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52,443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88,531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Age, mean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44·2 (17·4)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44·9 (17·2)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Female, 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55·0%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53·2%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Education ≤8 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29·4%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34·8%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Education ≥12 yr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51·4%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50·8%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Race: 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42·7%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43·3%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Race: Black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11·9%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11·5%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Race: 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45·4%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45·3%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Urban residence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Capitals + DF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86·2%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Distributions of age, sex, education and race are remarkably similar; key contrast is residence (Vigitel: capitals only; PNS: 86% urban).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Component 1 — Decline in landline coverage by region, 2016–2023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PNAD-TIC, IBGE · AAPC Brasil −14·3%/yr · Southeast/North = 4·2× in 2023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landline_by_region_publis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9784080" cy="597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Table 2 — AAPC by region with z-tests vs North (Holm-corrected)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Centre-West vs North p&lt;0·001 — contradicts H1 (floor effect)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1371600"/>
          <a:ext cx="9601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37882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AAPC %/yr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z vs North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 (Holm)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Brasil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32·6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11·7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−14·3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9·5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4·0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−11·6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ref.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Northeast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11·7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4·4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−13·2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1·91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0·056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40·1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14·6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−14·1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2·47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0·013*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Southeast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46·5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16·9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−14·3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2·05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0·040*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Centre-West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28·4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8·8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−16·5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4·08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&lt;0·001*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*p&lt;0·05 after Holm correction. North showed the SLOWEST decline (floor effect) — contrary to the pre-registered hypothesis (now flagged exploratory).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Figure 2 — Vigitel temporal trend, 2006–2023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Five priority NCD indicators · PNS 2019 in red dashed (reference)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_vigite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6646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Figure 3 — Vigitel underestimates 5/5 indicators (2019)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Bootstrap R=1000 · Holm-corrected p&lt;0·001 for all five comparisons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forest_vigitel_p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5166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Table 3 — Vigitel vs PNS prevalence, 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Holm-corrected across the five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371600"/>
          <a:ext cx="103327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Vigitel %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PNS %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 pp (95% CI)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 (Holm)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Current smoking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9·7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12·8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−3·1 (−3·8 to −2·4)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p&lt;0·001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Obesity (BMI ≥30)*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20·2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27·4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−7·1 (−9·5 to −4·8)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p&lt;0·001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Hypertension (diag.)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25·8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27·6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−1·7 (−2·6 to −0·9)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p&lt;0·001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Diabetes (diag.)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8·1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9·2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−1·1 (−1·7 to −0·6)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p&lt;0·001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Poor self-rated health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4·9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6·1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−1·2 (−1·6 to −0·7)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p&lt;0·001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Calibri"/>
              </a:rPr>
              <a:t>*Obesity in PNS uses measured BMI (W00103/W00203); Vigitel is self-reported — carries mode-of-measurement confounding.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Component 3 — Response propensity: ML vs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5-fold stratified CV · weights normalised within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371600"/>
          <a:ext cx="10332720" cy="137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571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AUC (mean ± SD)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Brier random ref.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Δ 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19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Logistic regression (benchmark)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0·513 ± 0·012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0·204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0·25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457201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Random Forest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0·591 ± 0·009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0·200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0·25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Calibri"/>
                        </a:rPr>
                        <a:t>+0·078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7432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Δ AUC = 0·078 — marginal benefit of ML over well-specified logistic regression.
Replicates the systematic-review finding of Christodoulou et al. (J Clin Epidemiol 2019) that ML rarely outperforms regression on tabular sociodemographic features.
For policy decisions, logistic regression is preferred for interpretability and parsimony.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Figure 4 — Fairlie decomposition with sensitivity to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Smoking: mode dominates across 3 specifications · Hypertension: highly sensitive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fairlie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4762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Methodological key finding (revised)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The bias is mode-driven for SMOKING, but specification-sensitive for OTHER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Smoking: 95% of the −3·1 pp gap is attributable to coefficients/MODE effects, ROBUST across base specification, +race, and urban-restricted PNS.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Implication: a frame-only redesign (dual-frame, multimodal) will reduce variance but is unlikely to eliminate the smoking gap, which appears tied to telephone vs in-person collection.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Hypertension: composition share triples (18% → 60%) when race is added — Vigitel respondents differ from PNS in ways age/sex/education alone do not capture.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Diabetes / poor health: decomposition partially reverses sign with specification — more cautious interpretation needed.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Earlier 'global 93–95% mode effect' claim was specification-fragile; we now report INDICATOR-SPECIFIC interpretations.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Policy implication: surveillance redesign should pair frame expansion with PERIODIC MEASURED-DATA ANCHORING (anthropometry subsamples, biomarker substudies) for indicators where mode dominates.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Figure 5 — Monte-Carlo simulation (ADEMP)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Multimodal sampling reduces variance 12-fold · S3 bias = 0 by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monte_carlo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6888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Table 6 — Monte-Carlo performance (smoking)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Bernoulli sampling + Hájek estimator · R=1000 replicates per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p̂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Bias (pp)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 empirical (pp)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MCSE bias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S0 — landline only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15·6%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13·90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+0·015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2·01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0·064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S1 — dual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96·9%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13·89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+0·002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0·005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S2 — triple frame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99·4%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13·89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+0·000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0·06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0·002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S3 — multimodal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13·89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0·000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Pseudopopulation = 2019 PNS sample. Variance reduction from S0 to S1 is 12-fold; further compression beyond S1 is small.
Framework limitation: PNS itself is subject to social desirability; planned extension uses 2022 Census + SRMI synthetic pseudopopulation as independent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Table 7 — NCD risk-factor surveillance across the Americas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Brazil is the only major Latin American system still landline-dominant in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280160"/>
          <a:ext cx="94183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3611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Frame (2024)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Initial yr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USA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BRFSS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Dual-frame since 2011 (landline+mobile)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1984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CCHS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In-person + telephone follow-up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1994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Mexico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ENSANUT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In-person, household-based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1988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Argentina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ENFR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In-person (4 waves)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2005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Vigitel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Landline (transitioning to dual-frame)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2006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PNS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In-person, household-based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2013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Colombia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ENSIN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In-person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2005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Chile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In-person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2003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Uruguay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ENFR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In-person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4A4A"/>
                          </a:solidFill>
                          <a:latin typeface="Calibri"/>
                        </a:rPr>
                        <a:t>2006</a:t>
                      </a:r>
                    </a:p>
                  </a:txBody>
                  <a:tcPr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Eight pre-specified, three response-driven from peer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PNS public microdata lack municipality codes — cannot strictly restrict comparator to capitals; urban-restricted sensitivity provided.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PNS itself has reporting biases (face-to-face social desirability); pseudopopulation is not an absolute truth.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Covariate set: age, sex, education, race; income and behavioural covariates planned for v0.9.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Vigitel q69 (race) shows label inconsistency in 2019 — re-aggregated to White/Black/Other.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Bootstrap not formally complex-design-aware; design-aware sensitivity in supplementary materials yields qualitatively identical inference.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Vigitel 2022 not released by MoH (pandemic disruption); Vigitel 2024 partial — primary year of comparison is 2019.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Obesity gap incorporates a mode-of-measurement confound (Vigitel self-reported vs PNS measured).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Random forest used with default hyperparameters; nested CV / hyperparameter search planned for the predictive component appendix.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Conclusions and policy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Reframing the Vigitel redesign question — and the lesson for the Americas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Vigitel underestimates 5/5 priority indicators — robust after Holm correction; this gap is REAL, not artefact of multiple testing.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For self-reported smoking (the most politically prominent indicator), the gap is dominantly mode-driven, not coverage-driven.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For other indicators, decomposition is specification-sensitive — present a NUANCED interpretation per indicator.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Policy: dual-frame redesign reduces variance markedly but, alone, will not eliminate mode-driven bias. PERIODIC MEASURED-DATA anchoring is required.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The methodological framework (Fairlie + ADEMP + R-indicator + design-aware variance) is portable to BRFSS, ENSANUT, ENFR, ENS — invitation to replicate in the region.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Pipeline reproducible (single R script, OSF protocol, planned Zenodo + Docker container) — open science as default for surveillance methodology research.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4A4A4A"/>
                </a:solidFill>
              </a:rPr>
              <a:t>Victor et al, 2026 · OSF DOI 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Acknowledgments and contact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4B31"/>
                </a:solidFill>
                <a:latin typeface="Calibri"/>
              </a:rPr>
              <a:t>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Programa de Apoio ao Desenvolvimento Institucional do SUS (PROADI-SUS), Hospital Israelita Albert Einstein.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4B31"/>
                </a:solidFill>
                <a:latin typeface="Calibri"/>
              </a:rPr>
              <a:t>Data and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All data are public-domain Brazilian government microdata
   – Vigitel: gov.br/saude/vigitel
   – PNS, PNAD-TIC: ibge.gov.br (via PNSIBGE / PNADcIBGE R packages)
Full pipeline in pipeline_completo.R (Zenodo DOI on submission)
Protocol registered in the Open Science Framework (DOI on submission)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4B31"/>
                </a:solidFill>
                <a:latin typeface="Calibri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audenciovictor@usp.br  ·  School of Public Health, Universidade de São Paulo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Special thanks to anonymous reviewers across two rounds of peer review (n=11) for substantive methodological corrections.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